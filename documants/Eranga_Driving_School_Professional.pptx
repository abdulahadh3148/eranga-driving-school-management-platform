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36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828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502920"/>
            <a:ext cx="1783080" cy="1783080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621792"/>
            <a:ext cx="1554480" cy="1554480"/>
          </a:xfrm>
          <a:prstGeom prst="ellipse">
            <a:avLst/>
          </a:prstGeom>
          <a:solidFill>
            <a:srgbClr val="2D82D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804672"/>
            <a:ext cx="1234440" cy="1234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487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ERANGA DRIVING SCHOOL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9260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274320" y="4389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9EF5"/>
                </a:solidFill>
              </a:rPr>
              <a:t>Full-Stack Web Application  ·  Sri Lanka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Student ID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80467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KUR/IT/2324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F/0083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12280" y="1737360"/>
            <a:ext cx="173736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0" y="1920240"/>
            <a:ext cx="2057400" cy="438912"/>
          </a:xfrm>
          <a:prstGeom prst="rect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193852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Kurunegala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2487168"/>
            <a:ext cx="2057400" cy="438912"/>
          </a:xfrm>
          <a:prstGeom prst="rect">
            <a:avLst/>
          </a:prstGeom>
          <a:solidFill>
            <a:srgbClr val="0E274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2505456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Peradeniya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75120" y="3054096"/>
            <a:ext cx="2057400" cy="438912"/>
          </a:xfrm>
          <a:prstGeom prst="rect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3072384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RMV Accredited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75120" y="3621024"/>
            <a:ext cx="2057400" cy="438912"/>
          </a:xfrm>
          <a:prstGeom prst="rect">
            <a:avLst/>
          </a:prstGeom>
          <a:solidFill>
            <a:srgbClr val="0E274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363931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98% Pass Rate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8FF"/>
                </a:solidFill>
              </a:rPr>
              <a:t>Digitizing Sri Lanka's Road to Better Driving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Platform?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4160520" cy="475488"/>
          </a:xfrm>
          <a:prstGeom prst="rect">
            <a:avLst/>
          </a:prstGeom>
          <a:solidFill>
            <a:srgbClr val="1A5FA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005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About The Platform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55448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Eranga Driving School Management Platform is a full-stack web application built to digitize and streamline the entire operations of Eranga Driving School in Kurunegala, Sri Lanka.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replaces slow, error-prone paper processes with a smart, role-based digital system accessible to students, instructors, and administrators.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960120"/>
            <a:ext cx="4160520" cy="47548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005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Purpose &amp; Goals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73168" y="1627632"/>
            <a:ext cx="3931920" cy="402336"/>
          </a:xfrm>
          <a:prstGeom prst="rect">
            <a:avLst/>
          </a:prstGeom>
          <a:solidFill>
            <a:srgbClr val="0E274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73168" y="1627632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6550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Replace manual paper-based processes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773168" y="2139696"/>
            <a:ext cx="3931920" cy="402336"/>
          </a:xfrm>
          <a:prstGeom prst="rect">
            <a:avLst/>
          </a:prstGeom>
          <a:solidFill>
            <a:srgbClr val="122E5A"/>
          </a:solidFill>
          <a:ln/>
        </p:spPr>
      </p:sp>
      <p:sp>
        <p:nvSpPr>
          <p:cNvPr id="20" name="Shape 16"/>
          <p:cNvSpPr/>
          <p:nvPr/>
        </p:nvSpPr>
        <p:spPr>
          <a:xfrm>
            <a:off x="4773168" y="2139696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7"/>
          <p:cNvSpPr/>
          <p:nvPr/>
        </p:nvSpPr>
        <p:spPr>
          <a:xfrm>
            <a:off x="4919472" y="2167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Provide online student registration &amp; login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773168" y="2651760"/>
            <a:ext cx="3931920" cy="402336"/>
          </a:xfrm>
          <a:prstGeom prst="rect">
            <a:avLst/>
          </a:prstGeom>
          <a:solidFill>
            <a:srgbClr val="0E274F"/>
          </a:solidFill>
          <a:ln/>
        </p:spPr>
      </p:sp>
      <p:sp>
        <p:nvSpPr>
          <p:cNvPr id="23" name="Shape 19"/>
          <p:cNvSpPr/>
          <p:nvPr/>
        </p:nvSpPr>
        <p:spPr>
          <a:xfrm>
            <a:off x="4773168" y="2651760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0"/>
          <p:cNvSpPr/>
          <p:nvPr/>
        </p:nvSpPr>
        <p:spPr>
          <a:xfrm>
            <a:off x="4919472" y="2679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Manage instructors, vehicles &amp; bookings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73168" y="3163824"/>
            <a:ext cx="3931920" cy="402336"/>
          </a:xfrm>
          <a:prstGeom prst="rect">
            <a:avLst/>
          </a:prstGeom>
          <a:solidFill>
            <a:srgbClr val="122E5A"/>
          </a:solidFill>
          <a:ln/>
        </p:spPr>
      </p:sp>
      <p:sp>
        <p:nvSpPr>
          <p:cNvPr id="26" name="Shape 22"/>
          <p:cNvSpPr/>
          <p:nvPr/>
        </p:nvSpPr>
        <p:spPr>
          <a:xfrm>
            <a:off x="4773168" y="3163824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3"/>
          <p:cNvSpPr/>
          <p:nvPr/>
        </p:nvSpPr>
        <p:spPr>
          <a:xfrm>
            <a:off x="4919472" y="31912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Track DMT license progress step-by-step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773168" y="3675888"/>
            <a:ext cx="3931920" cy="402336"/>
          </a:xfrm>
          <a:prstGeom prst="rect">
            <a:avLst/>
          </a:prstGeom>
          <a:solidFill>
            <a:srgbClr val="0E274F"/>
          </a:solidFill>
          <a:ln/>
        </p:spPr>
      </p:sp>
      <p:sp>
        <p:nvSpPr>
          <p:cNvPr id="29" name="Shape 25"/>
          <p:cNvSpPr/>
          <p:nvPr/>
        </p:nvSpPr>
        <p:spPr>
          <a:xfrm>
            <a:off x="4773168" y="3675888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703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Generate reports &amp; handle payments online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773168" y="4187952"/>
            <a:ext cx="3931920" cy="402336"/>
          </a:xfrm>
          <a:prstGeom prst="rect">
            <a:avLst/>
          </a:prstGeom>
          <a:solidFill>
            <a:srgbClr val="122E5A"/>
          </a:solidFill>
          <a:ln/>
        </p:spPr>
      </p:sp>
      <p:sp>
        <p:nvSpPr>
          <p:cNvPr id="32" name="Shape 28"/>
          <p:cNvSpPr/>
          <p:nvPr/>
        </p:nvSpPr>
        <p:spPr>
          <a:xfrm>
            <a:off x="4773168" y="4187952"/>
            <a:ext cx="54864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29"/>
          <p:cNvSpPr/>
          <p:nvPr/>
        </p:nvSpPr>
        <p:spPr>
          <a:xfrm>
            <a:off x="4919472" y="42153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F"/>
                </a:solidFill>
              </a:rPr>
              <a:t>Enable role-based admin control panel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3F5E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the Manual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" y="1207008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6187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07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Database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" y="2011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Student records in physical files — prone to loss &amp; errors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8688" y="1005840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005840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83280" y="1207008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26187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51376" y="1207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Conflicts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2011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Scheduling by phone — double-bookings are routine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81344" y="1005840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1005840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Shape 16"/>
          <p:cNvSpPr/>
          <p:nvPr/>
        </p:nvSpPr>
        <p:spPr>
          <a:xfrm>
            <a:off x="6345936" y="1207008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61872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14032" y="1207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Payments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45936" y="2011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Cash-only, no invoices, no outstanding balance tracking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6032" y="2999232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56032" y="2999232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6" name="Shape 21"/>
          <p:cNvSpPr/>
          <p:nvPr/>
        </p:nvSpPr>
        <p:spPr>
          <a:xfrm>
            <a:off x="420624" y="3200400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55264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Tracking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20624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No system to assign or monitor training vehicle availability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18688" y="2999232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18688" y="2999232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2" name="Shape 26"/>
          <p:cNvSpPr/>
          <p:nvPr/>
        </p:nvSpPr>
        <p:spPr>
          <a:xfrm>
            <a:off x="3383280" y="3200400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255264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5137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DMT Progress Tracking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83280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Students unaware of their RMV license application stage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181344" y="2999232"/>
            <a:ext cx="2816352" cy="1783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81344" y="2999232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8" name="Shape 31"/>
          <p:cNvSpPr/>
          <p:nvPr/>
        </p:nvSpPr>
        <p:spPr>
          <a:xfrm>
            <a:off x="6345936" y="3200400"/>
            <a:ext cx="658368" cy="658368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55264"/>
            <a:ext cx="548640" cy="5486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14032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Reporting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45936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8"/>
                </a:solidFill>
              </a:rPr>
              <a:t>Management had no view of revenue, attendance, or pass rates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2D82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Achieves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685800" cy="1207008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30759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0704" y="10789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Online Registration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14904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register with unique EDS IDs and manage their own profiles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87552"/>
            <a:ext cx="685800" cy="1207008"/>
          </a:xfrm>
          <a:prstGeom prst="rect">
            <a:avLst/>
          </a:prstGeom>
          <a:solidFill>
            <a:srgbClr val="14366B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0759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13832" y="10789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Admin Approval Flow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13832" y="14904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Admins review, approve or reject registrations with instant notifications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340864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40864"/>
            <a:ext cx="685800" cy="1207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6609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0704" y="24323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Smart Session Booking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60704" y="28437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Real-time instructor &amp; vehicle availability checking before confirmation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340864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40864"/>
            <a:ext cx="685800" cy="1207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6609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13832" y="24323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Structured Payments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13832" y="28437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Invoices, outstanding balances and full payment history per student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694176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694176"/>
            <a:ext cx="685800" cy="1207008"/>
          </a:xfrm>
          <a:prstGeom prst="rect">
            <a:avLst/>
          </a:prstGeom>
          <a:solidFill>
            <a:srgbClr val="0A4D78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40142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60704" y="37856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DMT Progress Tracker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60704" y="419709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Visual 7-step tracker: Medical → DMT App → Theory → Permit → License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94176"/>
            <a:ext cx="422452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94176"/>
            <a:ext cx="685800" cy="1207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0142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13832" y="37856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</a:rPr>
              <a:t>Instructor Management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13832" y="419709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Profiles, schedules, availability and session assignment in one place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CORE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the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1627632" cy="3913632"/>
          </a:xfrm>
          <a:prstGeom prst="rect">
            <a:avLst/>
          </a:prstGeom>
          <a:solidFill>
            <a:srgbClr val="1A5FA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" y="1115568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6187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6888" y="21488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880360"/>
            <a:ext cx="107899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" y="3035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Online registration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8328" y="35844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Unique EDS IDs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8328" y="413308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" y="4096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Admin approval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956816" y="960120"/>
            <a:ext cx="1627632" cy="3913632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313432" y="1115568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261872"/>
            <a:ext cx="658368" cy="6583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02536" y="21488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231136" y="2880360"/>
            <a:ext cx="107899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18"/>
          <p:cNvSpPr/>
          <p:nvPr/>
        </p:nvSpPr>
        <p:spPr>
          <a:xfrm>
            <a:off x="2093976" y="3035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19"/>
          <p:cNvSpPr/>
          <p:nvPr/>
        </p:nvSpPr>
        <p:spPr>
          <a:xfrm>
            <a:off x="2276856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Profile &amp; licence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093976" y="35844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1"/>
          <p:cNvSpPr/>
          <p:nvPr/>
        </p:nvSpPr>
        <p:spPr>
          <a:xfrm>
            <a:off x="2276856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Availability mgmt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093976" y="413308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3"/>
          <p:cNvSpPr/>
          <p:nvPr/>
        </p:nvSpPr>
        <p:spPr>
          <a:xfrm>
            <a:off x="2276856" y="4096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Session assign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712464" y="960120"/>
            <a:ext cx="1627632" cy="391363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069080" y="1115568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61872"/>
            <a:ext cx="658368" cy="6583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758184" y="21488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3986784" y="2880360"/>
            <a:ext cx="107899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Shape 28"/>
          <p:cNvSpPr/>
          <p:nvPr/>
        </p:nvSpPr>
        <p:spPr>
          <a:xfrm>
            <a:off x="3849624" y="3035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29"/>
          <p:cNvSpPr/>
          <p:nvPr/>
        </p:nvSpPr>
        <p:spPr>
          <a:xfrm>
            <a:off x="4032504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Online booking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849624" y="35844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1"/>
          <p:cNvSpPr/>
          <p:nvPr/>
        </p:nvSpPr>
        <p:spPr>
          <a:xfrm>
            <a:off x="4032504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Vehicle assign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849624" y="413308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3"/>
          <p:cNvSpPr/>
          <p:nvPr/>
        </p:nvSpPr>
        <p:spPr>
          <a:xfrm>
            <a:off x="4032504" y="4096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History log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468112" y="960120"/>
            <a:ext cx="1627632" cy="3913632"/>
          </a:xfrm>
          <a:prstGeom prst="rect">
            <a:avLst/>
          </a:prstGeom>
          <a:solidFill>
            <a:srgbClr val="0A4D78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824728" y="1115568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261872"/>
            <a:ext cx="658368" cy="6583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513832" y="21488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5742432" y="2880360"/>
            <a:ext cx="107899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Shape 38"/>
          <p:cNvSpPr/>
          <p:nvPr/>
        </p:nvSpPr>
        <p:spPr>
          <a:xfrm>
            <a:off x="5605272" y="3035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5" name="Text 39"/>
          <p:cNvSpPr/>
          <p:nvPr/>
        </p:nvSpPr>
        <p:spPr>
          <a:xfrm>
            <a:off x="5788152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Invoice gen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5605272" y="35844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7" name="Text 41"/>
          <p:cNvSpPr/>
          <p:nvPr/>
        </p:nvSpPr>
        <p:spPr>
          <a:xfrm>
            <a:off x="5788152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Outstanding track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5605272" y="413308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9" name="Text 43"/>
          <p:cNvSpPr/>
          <p:nvPr/>
        </p:nvSpPr>
        <p:spPr>
          <a:xfrm>
            <a:off x="5788152" y="4096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Payment history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7223760" y="960120"/>
            <a:ext cx="1627632" cy="3913632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7580376" y="1115568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261872"/>
            <a:ext cx="658368" cy="65836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7269480" y="21488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7498080" y="2880360"/>
            <a:ext cx="107899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5" name="Shape 48"/>
          <p:cNvSpPr/>
          <p:nvPr/>
        </p:nvSpPr>
        <p:spPr>
          <a:xfrm>
            <a:off x="7360920" y="3035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6" name="Text 49"/>
          <p:cNvSpPr/>
          <p:nvPr/>
        </p:nvSpPr>
        <p:spPr>
          <a:xfrm>
            <a:off x="7543800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Full CRUD ops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7360920" y="35844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8" name="Text 51"/>
          <p:cNvSpPr/>
          <p:nvPr/>
        </p:nvSpPr>
        <p:spPr>
          <a:xfrm>
            <a:off x="7543800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Reports &amp; analytics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7360920" y="413308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0" name="Text 53"/>
          <p:cNvSpPr/>
          <p:nvPr/>
        </p:nvSpPr>
        <p:spPr>
          <a:xfrm>
            <a:off x="7543800" y="4096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User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Works — Step by Step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097280"/>
            <a:ext cx="1152144" cy="1152144"/>
          </a:xfrm>
          <a:prstGeom prst="ellipse">
            <a:avLst/>
          </a:prstGeom>
          <a:solidFill>
            <a:srgbClr val="1A5FA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25880"/>
            <a:ext cx="713232" cy="7132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42416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42416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Registers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72768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55064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728216" y="1097280"/>
            <a:ext cx="1152144" cy="1152144"/>
          </a:xfrm>
          <a:prstGeom prst="ellipse">
            <a:avLst/>
          </a:prstGeom>
          <a:solidFill>
            <a:srgbClr val="1436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1325880"/>
            <a:ext cx="713232" cy="7132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532888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532888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45336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Approves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1572768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145536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18688" y="1097280"/>
            <a:ext cx="1152144" cy="1152144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325880"/>
            <a:ext cx="713232" cy="7132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023360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023360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035808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Session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572768"/>
            <a:ext cx="256032" cy="25603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636008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709160" y="1097280"/>
            <a:ext cx="1152144" cy="11521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325880"/>
            <a:ext cx="713232" cy="71323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5513832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5513832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4526280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Instructor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Teaches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456" y="1572768"/>
            <a:ext cx="256032" cy="25603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126480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199632" y="1097280"/>
            <a:ext cx="1152144" cy="1152144"/>
          </a:xfrm>
          <a:prstGeom prst="ellipse">
            <a:avLst/>
          </a:prstGeom>
          <a:solidFill>
            <a:srgbClr val="0A4D7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1325880"/>
            <a:ext cx="713232" cy="713232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7004304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27"/>
          <p:cNvSpPr/>
          <p:nvPr/>
        </p:nvSpPr>
        <p:spPr>
          <a:xfrm>
            <a:off x="7004304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6016752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Processed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8" y="1572768"/>
            <a:ext cx="256032" cy="256032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7616952" y="1024128"/>
            <a:ext cx="1298448" cy="1298448"/>
          </a:xfrm>
          <a:prstGeom prst="ellipse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7690104" y="1097280"/>
            <a:ext cx="1152144" cy="115214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8704" y="1325880"/>
            <a:ext cx="713232" cy="713232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8494776" y="950976"/>
            <a:ext cx="438912" cy="43891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32"/>
          <p:cNvSpPr/>
          <p:nvPr/>
        </p:nvSpPr>
        <p:spPr>
          <a:xfrm>
            <a:off x="8494776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6</a:t>
            </a:r>
            <a:endParaRPr lang="en-US" sz="1400" dirty="0"/>
          </a:p>
        </p:txBody>
      </p:sp>
      <p:sp>
        <p:nvSpPr>
          <p:cNvPr id="46" name="Text 33"/>
          <p:cNvSpPr/>
          <p:nvPr/>
        </p:nvSpPr>
        <p:spPr>
          <a:xfrm>
            <a:off x="7507224" y="242316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License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Progress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256032" y="3182112"/>
            <a:ext cx="8631936" cy="17190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48" name="Shape 35"/>
          <p:cNvSpPr/>
          <p:nvPr/>
        </p:nvSpPr>
        <p:spPr>
          <a:xfrm>
            <a:off x="256032" y="3182112"/>
            <a:ext cx="8631936" cy="4023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36"/>
          <p:cNvSpPr/>
          <p:nvPr/>
        </p:nvSpPr>
        <p:spPr>
          <a:xfrm>
            <a:off x="347472" y="321868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1B3E"/>
                </a:solidFill>
              </a:rPr>
              <a:t>DMT LICENSE PROGRESS TRACKER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502920" y="3694176"/>
            <a:ext cx="566928" cy="566928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Text 38"/>
          <p:cNvSpPr/>
          <p:nvPr/>
        </p:nvSpPr>
        <p:spPr>
          <a:xfrm>
            <a:off x="50292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2" name="Text 39"/>
          <p:cNvSpPr/>
          <p:nvPr/>
        </p:nvSpPr>
        <p:spPr>
          <a:xfrm>
            <a:off x="320040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Medical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Cert</a:t>
            </a:r>
            <a:endParaRPr lang="en-US" sz="850" dirty="0"/>
          </a:p>
        </p:txBody>
      </p:sp>
      <p:sp>
        <p:nvSpPr>
          <p:cNvPr id="53" name="Shape 40"/>
          <p:cNvSpPr/>
          <p:nvPr/>
        </p:nvSpPr>
        <p:spPr>
          <a:xfrm>
            <a:off x="1069848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54" name="Shape 41"/>
          <p:cNvSpPr/>
          <p:nvPr/>
        </p:nvSpPr>
        <p:spPr>
          <a:xfrm>
            <a:off x="1709928" y="3694176"/>
            <a:ext cx="566928" cy="566928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42"/>
          <p:cNvSpPr/>
          <p:nvPr/>
        </p:nvSpPr>
        <p:spPr>
          <a:xfrm>
            <a:off x="1709928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6" name="Text 43"/>
          <p:cNvSpPr/>
          <p:nvPr/>
        </p:nvSpPr>
        <p:spPr>
          <a:xfrm>
            <a:off x="152704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DMT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App</a:t>
            </a:r>
            <a:endParaRPr lang="en-US" sz="850" dirty="0"/>
          </a:p>
        </p:txBody>
      </p:sp>
      <p:sp>
        <p:nvSpPr>
          <p:cNvPr id="57" name="Shape 44"/>
          <p:cNvSpPr/>
          <p:nvPr/>
        </p:nvSpPr>
        <p:spPr>
          <a:xfrm>
            <a:off x="2276856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58" name="Shape 45"/>
          <p:cNvSpPr/>
          <p:nvPr/>
        </p:nvSpPr>
        <p:spPr>
          <a:xfrm>
            <a:off x="2916936" y="3694176"/>
            <a:ext cx="566928" cy="566928"/>
          </a:xfrm>
          <a:prstGeom prst="ellipse">
            <a:avLst/>
          </a:prstGeom>
          <a:solidFill>
            <a:srgbClr val="2D82D5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46"/>
          <p:cNvSpPr/>
          <p:nvPr/>
        </p:nvSpPr>
        <p:spPr>
          <a:xfrm>
            <a:off x="2916936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60" name="Text 47"/>
          <p:cNvSpPr/>
          <p:nvPr/>
        </p:nvSpPr>
        <p:spPr>
          <a:xfrm>
            <a:off x="2734056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Theory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Exam</a:t>
            </a:r>
            <a:endParaRPr lang="en-US" sz="850" dirty="0"/>
          </a:p>
        </p:txBody>
      </p:sp>
      <p:sp>
        <p:nvSpPr>
          <p:cNvPr id="61" name="Shape 48"/>
          <p:cNvSpPr/>
          <p:nvPr/>
        </p:nvSpPr>
        <p:spPr>
          <a:xfrm>
            <a:off x="3483864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62" name="Shape 49"/>
          <p:cNvSpPr/>
          <p:nvPr/>
        </p:nvSpPr>
        <p:spPr>
          <a:xfrm>
            <a:off x="4123944" y="3694176"/>
            <a:ext cx="566928" cy="566928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Text 50"/>
          <p:cNvSpPr/>
          <p:nvPr/>
        </p:nvSpPr>
        <p:spPr>
          <a:xfrm>
            <a:off x="4123944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64" name="Text 51"/>
          <p:cNvSpPr/>
          <p:nvPr/>
        </p:nvSpPr>
        <p:spPr>
          <a:xfrm>
            <a:off x="3941064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Learner's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Permit</a:t>
            </a:r>
            <a:endParaRPr lang="en-US" sz="850" dirty="0"/>
          </a:p>
        </p:txBody>
      </p:sp>
      <p:sp>
        <p:nvSpPr>
          <p:cNvPr id="65" name="Shape 52"/>
          <p:cNvSpPr/>
          <p:nvPr/>
        </p:nvSpPr>
        <p:spPr>
          <a:xfrm>
            <a:off x="4690872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66" name="Shape 53"/>
          <p:cNvSpPr/>
          <p:nvPr/>
        </p:nvSpPr>
        <p:spPr>
          <a:xfrm>
            <a:off x="5330952" y="3694176"/>
            <a:ext cx="566928" cy="56692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Text 54"/>
          <p:cNvSpPr/>
          <p:nvPr/>
        </p:nvSpPr>
        <p:spPr>
          <a:xfrm>
            <a:off x="5330952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8" name="Text 55"/>
          <p:cNvSpPr/>
          <p:nvPr/>
        </p:nvSpPr>
        <p:spPr>
          <a:xfrm>
            <a:off x="5148072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Road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Training</a:t>
            </a:r>
            <a:endParaRPr lang="en-US" sz="850" dirty="0"/>
          </a:p>
        </p:txBody>
      </p:sp>
      <p:sp>
        <p:nvSpPr>
          <p:cNvPr id="69" name="Shape 56"/>
          <p:cNvSpPr/>
          <p:nvPr/>
        </p:nvSpPr>
        <p:spPr>
          <a:xfrm>
            <a:off x="5897880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70" name="Shape 57"/>
          <p:cNvSpPr/>
          <p:nvPr/>
        </p:nvSpPr>
        <p:spPr>
          <a:xfrm>
            <a:off x="6537960" y="3694176"/>
            <a:ext cx="566928" cy="566928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Text 58"/>
          <p:cNvSpPr/>
          <p:nvPr/>
        </p:nvSpPr>
        <p:spPr>
          <a:xfrm>
            <a:off x="653796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72" name="Text 59"/>
          <p:cNvSpPr/>
          <p:nvPr/>
        </p:nvSpPr>
        <p:spPr>
          <a:xfrm>
            <a:off x="6355080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DMT Road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Test</a:t>
            </a:r>
            <a:endParaRPr lang="en-US" sz="850" dirty="0"/>
          </a:p>
        </p:txBody>
      </p:sp>
      <p:sp>
        <p:nvSpPr>
          <p:cNvPr id="73" name="Shape 60"/>
          <p:cNvSpPr/>
          <p:nvPr/>
        </p:nvSpPr>
        <p:spPr>
          <a:xfrm>
            <a:off x="7104888" y="3931920"/>
            <a:ext cx="640080" cy="54864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74" name="Shape 61"/>
          <p:cNvSpPr/>
          <p:nvPr/>
        </p:nvSpPr>
        <p:spPr>
          <a:xfrm>
            <a:off x="7744968" y="3694176"/>
            <a:ext cx="566928" cy="566928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5" name="Text 62"/>
          <p:cNvSpPr/>
          <p:nvPr/>
        </p:nvSpPr>
        <p:spPr>
          <a:xfrm>
            <a:off x="7744968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76" name="Text 63"/>
          <p:cNvSpPr/>
          <p:nvPr/>
        </p:nvSpPr>
        <p:spPr>
          <a:xfrm>
            <a:off x="756208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License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</a:rPr>
              <a:t>Issued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Overview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87552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" y="10424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463040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48132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EDS001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182880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name, dob, NIC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" y="210312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phone, address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237744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status, password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59168" y="987552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59168" y="987552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16" name="Text 14"/>
          <p:cNvSpPr/>
          <p:nvPr/>
        </p:nvSpPr>
        <p:spPr>
          <a:xfrm>
            <a:off x="7114032" y="10424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Instructor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68896" y="1463040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148132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INS001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87184" y="182880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name, licence_No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87184" y="210312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87184" y="237744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email, phone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987552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11880" y="987552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24" name="Text 22"/>
          <p:cNvSpPr/>
          <p:nvPr/>
        </p:nvSpPr>
        <p:spPr>
          <a:xfrm>
            <a:off x="3666744" y="10424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21608" y="1463040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6" name="Text 24"/>
          <p:cNvSpPr/>
          <p:nvPr/>
        </p:nvSpPr>
        <p:spPr>
          <a:xfrm>
            <a:off x="3721608" y="148132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admin_ID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39896" y="182880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name, email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9896" y="210312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password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39896" y="2377440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role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063240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063240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" y="31181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2608" y="3538728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355701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booking_ID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0896" y="390448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date, time, status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" y="417880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student_ID (FK)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0896" y="445312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vehicle_ID (FK)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11880" y="3063240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11880" y="3063240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40" name="Text 38"/>
          <p:cNvSpPr/>
          <p:nvPr/>
        </p:nvSpPr>
        <p:spPr>
          <a:xfrm>
            <a:off x="3666744" y="31181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721608" y="3538728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2" name="Text 40"/>
          <p:cNvSpPr/>
          <p:nvPr/>
        </p:nvSpPr>
        <p:spPr>
          <a:xfrm>
            <a:off x="3721608" y="355701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PAY001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9896" y="390448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amount, date, status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39896" y="417880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student_ID (FK)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39896" y="445312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booking_ID (FK)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59168" y="3063240"/>
            <a:ext cx="1883664" cy="1755648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59168" y="3063240"/>
            <a:ext cx="1883664" cy="402336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48" name="Text 46"/>
          <p:cNvSpPr/>
          <p:nvPr/>
        </p:nvSpPr>
        <p:spPr>
          <a:xfrm>
            <a:off x="7114032" y="31181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Vehicle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68896" y="3538728"/>
            <a:ext cx="1664208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50" name="Text 48"/>
          <p:cNvSpPr/>
          <p:nvPr/>
        </p:nvSpPr>
        <p:spPr>
          <a:xfrm>
            <a:off x="7168896" y="355701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PK: vehicle_ID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87184" y="390448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model, type, status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87184" y="417880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register_NO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87184" y="4453128"/>
            <a:ext cx="1700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8"/>
                </a:solidFill>
              </a:rPr>
              <a:t>instructor_ID (FK)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066544" y="1865376"/>
            <a:ext cx="1545336" cy="914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55" name="Shape 53"/>
          <p:cNvSpPr/>
          <p:nvPr/>
        </p:nvSpPr>
        <p:spPr>
          <a:xfrm>
            <a:off x="5495544" y="1865376"/>
            <a:ext cx="1563624" cy="914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1124712" y="2743200"/>
            <a:ext cx="914" cy="320040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57" name="Shape 55"/>
          <p:cNvSpPr/>
          <p:nvPr/>
        </p:nvSpPr>
        <p:spPr>
          <a:xfrm>
            <a:off x="4553712" y="2743200"/>
            <a:ext cx="914" cy="320040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58" name="Shape 56"/>
          <p:cNvSpPr/>
          <p:nvPr/>
        </p:nvSpPr>
        <p:spPr>
          <a:xfrm>
            <a:off x="8001000" y="2743200"/>
            <a:ext cx="914" cy="320040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59" name="Shape 57"/>
          <p:cNvSpPr/>
          <p:nvPr/>
        </p:nvSpPr>
        <p:spPr>
          <a:xfrm>
            <a:off x="2066544" y="3941064"/>
            <a:ext cx="1545336" cy="914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  <p:sp>
        <p:nvSpPr>
          <p:cNvPr id="60" name="Shape 58"/>
          <p:cNvSpPr/>
          <p:nvPr/>
        </p:nvSpPr>
        <p:spPr>
          <a:xfrm>
            <a:off x="5495544" y="3941064"/>
            <a:ext cx="1563624" cy="914"/>
          </a:xfrm>
          <a:prstGeom prst="line">
            <a:avLst/>
          </a:prstGeom>
          <a:noFill/>
          <a:ln w="19050">
            <a:solidFill>
              <a:srgbClr val="4F9EF5"/>
            </a:solidFill>
            <a:prstDash val="sys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PAYMENT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Invoice &amp; Payment Management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042416"/>
            <a:ext cx="512064" cy="512064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42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554480"/>
            <a:ext cx="914" cy="256032"/>
          </a:xfrm>
          <a:prstGeom prst="line">
            <a:avLst/>
          </a:prstGeom>
          <a:noFill/>
          <a:ln w="19050">
            <a:solidFill>
              <a:srgbClr val="2D82D5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932688" y="1042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Student Enrolls in Package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13441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Linked to a selected training package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12064" cy="512064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2322576"/>
            <a:ext cx="914" cy="256032"/>
          </a:xfrm>
          <a:prstGeom prst="line">
            <a:avLst/>
          </a:prstGeom>
          <a:noFill/>
          <a:ln w="19050">
            <a:solidFill>
              <a:srgbClr val="2D82D5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932688" y="1810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Payment Record Created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21122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Unique PAY001 ID assigned automatically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512064" cy="512064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0352" y="3090672"/>
            <a:ext cx="914" cy="256032"/>
          </a:xfrm>
          <a:prstGeom prst="line">
            <a:avLst/>
          </a:prstGeom>
          <a:noFill/>
          <a:ln w="19050">
            <a:solidFill>
              <a:srgbClr val="2D82D5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932688" y="25786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Admin Confirms Payment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" y="28803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Admin verifies &amp; updates payment status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46704"/>
            <a:ext cx="512064" cy="512064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" y="3858768"/>
            <a:ext cx="914" cy="256032"/>
          </a:xfrm>
          <a:prstGeom prst="line">
            <a:avLst/>
          </a:prstGeom>
          <a:noFill/>
          <a:ln w="19050">
            <a:solidFill>
              <a:srgbClr val="2D82D5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932688" y="33467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Invoice Generated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2688" y="36484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Breakdown visible on student dashboard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512064" cy="512064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114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114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Outstanding Balance Tracked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" y="44165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Remaining amount clearly shown to student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960120"/>
            <a:ext cx="4160520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960120"/>
            <a:ext cx="4160520" cy="457200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05840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166360" y="10241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Packages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828032" y="1536192"/>
            <a:ext cx="3913632" cy="987552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919472" y="1609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Basic Starter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949440" y="160934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5FAB"/>
                </a:solidFill>
              </a:rPr>
              <a:t>Rs. 15,000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4919472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 driving lessons  ·  Theory support  ·  Standard vehicle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828032" y="2651760"/>
            <a:ext cx="3913632" cy="987552"/>
          </a:xfrm>
          <a:prstGeom prst="rect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919472" y="27249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 Driver ★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949440" y="272491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Rs. 25,000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4919472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10 driving lessons  ·  Mock DMT test  ·  Priority booking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828032" y="3767328"/>
            <a:ext cx="3913632" cy="987552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919472" y="3840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Ultimate License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6949440" y="38404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5FAB"/>
                </a:solidFill>
              </a:rPr>
              <a:t>Rs. 45,000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919472" y="4270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20 driving lessons  ·  Unlimited mocks  ·  Guaranteed pass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System Stand Out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73152" cy="1828800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261872"/>
            <a:ext cx="713232" cy="713232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898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15214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Unique ID System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" y="210312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EDS001 (students), INS001 (instructors), PAY001 (payments) — consistent and professional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987552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987552"/>
            <a:ext cx="73152" cy="182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64992" y="1261872"/>
            <a:ext cx="713232" cy="713232"/>
          </a:xfrm>
          <a:prstGeom prst="ellipse">
            <a:avLst/>
          </a:prstGeom>
          <a:solidFill>
            <a:srgbClr val="0D1B3E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3898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06240" y="115214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64992" y="210312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Three portals: Student, Instructor, Admin — each with tailored dashboards &amp; permissions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987552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987552"/>
            <a:ext cx="73152" cy="18288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0" name="Shape 16"/>
          <p:cNvSpPr/>
          <p:nvPr/>
        </p:nvSpPr>
        <p:spPr>
          <a:xfrm>
            <a:off x="6336792" y="1261872"/>
            <a:ext cx="713232" cy="713232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38988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78040" y="115214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DMT Progress Tracker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36792" y="210312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Visual 7-step tracker follows the official RMV Sri Lanka license process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28600" y="3017520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30175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Shape 21"/>
          <p:cNvSpPr/>
          <p:nvPr/>
        </p:nvSpPr>
        <p:spPr>
          <a:xfrm>
            <a:off x="393192" y="3291840"/>
            <a:ext cx="713232" cy="71323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41985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Admin Reports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93192" y="4133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metrics: total students, revenue, pending approvals, recent bookings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0" y="3017520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0" y="3017520"/>
            <a:ext cx="73152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Shape 26"/>
          <p:cNvSpPr/>
          <p:nvPr/>
        </p:nvSpPr>
        <p:spPr>
          <a:xfrm>
            <a:off x="3364992" y="3291840"/>
            <a:ext cx="713232" cy="713232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419856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206240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98% Pass Rate Support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64992" y="4133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Systematic training tracking ensures no step is missed; mock tests built in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172200" y="3017520"/>
            <a:ext cx="2834640" cy="1828800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72200" y="3017520"/>
            <a:ext cx="73152" cy="1828800"/>
          </a:xfrm>
          <a:prstGeom prst="rect">
            <a:avLst/>
          </a:prstGeom>
          <a:solidFill>
            <a:srgbClr val="0A4D78"/>
          </a:solidFill>
          <a:ln/>
        </p:spPr>
      </p:sp>
      <p:sp>
        <p:nvSpPr>
          <p:cNvPr id="38" name="Shape 31"/>
          <p:cNvSpPr/>
          <p:nvPr/>
        </p:nvSpPr>
        <p:spPr>
          <a:xfrm>
            <a:off x="6336792" y="3291840"/>
            <a:ext cx="713232" cy="713232"/>
          </a:xfrm>
          <a:prstGeom prst="ellipse">
            <a:avLst/>
          </a:prstGeom>
          <a:solidFill>
            <a:srgbClr val="0A4D78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419856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78040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Smart Calendar Booking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36792" y="413308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Students book sessions with live availability; admin confirms from control panel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0D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TECHNOLOGIES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Technology Architecture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38862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834640" cy="713232"/>
          </a:xfrm>
          <a:prstGeom prst="rect">
            <a:avLst/>
          </a:prstGeom>
          <a:solidFill>
            <a:srgbClr val="2D82D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98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874520"/>
            <a:ext cx="64008" cy="566928"/>
          </a:xfrm>
          <a:prstGeom prst="rect">
            <a:avLst/>
          </a:prstGeom>
          <a:solidFill>
            <a:srgbClr val="2D82D5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9293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React.js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" y="218541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Component-based UI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606040"/>
            <a:ext cx="64008" cy="566928"/>
          </a:xfrm>
          <a:prstGeom prst="rect">
            <a:avLst/>
          </a:prstGeom>
          <a:solidFill>
            <a:srgbClr val="2D82D5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26609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" y="291693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Fast build tooling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33756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3337560"/>
            <a:ext cx="64008" cy="566928"/>
          </a:xfrm>
          <a:prstGeom prst="rect">
            <a:avLst/>
          </a:prstGeom>
          <a:solidFill>
            <a:srgbClr val="2D82D5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" y="33924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04" y="364845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Utility-first styling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4069080"/>
            <a:ext cx="64008" cy="566928"/>
          </a:xfrm>
          <a:prstGeom prst="rect">
            <a:avLst/>
          </a:prstGeom>
          <a:solidFill>
            <a:srgbClr val="2D82D5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" y="4123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Router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3504" y="437997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Client-side routing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960120"/>
            <a:ext cx="2834640" cy="38862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960120"/>
            <a:ext cx="2834640" cy="713232"/>
          </a:xfrm>
          <a:prstGeom prst="rect">
            <a:avLst/>
          </a:prstGeom>
          <a:solidFill>
            <a:srgbClr val="1A5FA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69848"/>
            <a:ext cx="438912" cy="43891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959352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3429000" y="187452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Shape 27"/>
          <p:cNvSpPr/>
          <p:nvPr/>
        </p:nvSpPr>
        <p:spPr>
          <a:xfrm>
            <a:off x="3429000" y="1874520"/>
            <a:ext cx="64008" cy="566928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32" name="Text 28"/>
          <p:cNvSpPr/>
          <p:nvPr/>
        </p:nvSpPr>
        <p:spPr>
          <a:xfrm>
            <a:off x="3575304" y="19293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575304" y="218541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JS runtime environment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429000" y="260604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Shape 31"/>
          <p:cNvSpPr/>
          <p:nvPr/>
        </p:nvSpPr>
        <p:spPr>
          <a:xfrm>
            <a:off x="3429000" y="2606040"/>
            <a:ext cx="64008" cy="566928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36" name="Text 32"/>
          <p:cNvSpPr/>
          <p:nvPr/>
        </p:nvSpPr>
        <p:spPr>
          <a:xfrm>
            <a:off x="3575304" y="26609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575304" y="291693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RESTful API framework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429000" y="333756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Shape 35"/>
          <p:cNvSpPr/>
          <p:nvPr/>
        </p:nvSpPr>
        <p:spPr>
          <a:xfrm>
            <a:off x="3429000" y="3337560"/>
            <a:ext cx="64008" cy="566928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40" name="Text 36"/>
          <p:cNvSpPr/>
          <p:nvPr/>
        </p:nvSpPr>
        <p:spPr>
          <a:xfrm>
            <a:off x="3575304" y="33924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Auth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3575304" y="364845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Secure token-based login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3429000" y="406908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Shape 39"/>
          <p:cNvSpPr/>
          <p:nvPr/>
        </p:nvSpPr>
        <p:spPr>
          <a:xfrm>
            <a:off x="3429000" y="4069080"/>
            <a:ext cx="64008" cy="566928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44" name="Text 40"/>
          <p:cNvSpPr/>
          <p:nvPr/>
        </p:nvSpPr>
        <p:spPr>
          <a:xfrm>
            <a:off x="3575304" y="4123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Bcrypt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3575304" y="437997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Password hashing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217920" y="960120"/>
            <a:ext cx="2834640" cy="38862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217920" y="960120"/>
            <a:ext cx="2834640" cy="71323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69848"/>
            <a:ext cx="438912" cy="43891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931152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50" name="Shape 45"/>
          <p:cNvSpPr/>
          <p:nvPr/>
        </p:nvSpPr>
        <p:spPr>
          <a:xfrm>
            <a:off x="6400800" y="187452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Shape 46"/>
          <p:cNvSpPr/>
          <p:nvPr/>
        </p:nvSpPr>
        <p:spPr>
          <a:xfrm>
            <a:off x="6400800" y="1874520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47"/>
          <p:cNvSpPr/>
          <p:nvPr/>
        </p:nvSpPr>
        <p:spPr>
          <a:xfrm>
            <a:off x="6547104" y="19293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6547104" y="218541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Relational DB management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6400800" y="260604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Shape 50"/>
          <p:cNvSpPr/>
          <p:nvPr/>
        </p:nvSpPr>
        <p:spPr>
          <a:xfrm>
            <a:off x="6400800" y="2606040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1"/>
          <p:cNvSpPr/>
          <p:nvPr/>
        </p:nvSpPr>
        <p:spPr>
          <a:xfrm>
            <a:off x="6547104" y="26609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Sequelize ORM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6547104" y="291693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Model-based DB ops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6400800" y="333756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Shape 54"/>
          <p:cNvSpPr/>
          <p:nvPr/>
        </p:nvSpPr>
        <p:spPr>
          <a:xfrm>
            <a:off x="6400800" y="3337560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0" name="Text 55"/>
          <p:cNvSpPr/>
          <p:nvPr/>
        </p:nvSpPr>
        <p:spPr>
          <a:xfrm>
            <a:off x="6547104" y="33924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Structured IDs</a:t>
            </a:r>
            <a:endParaRPr lang="en-US" sz="1200" dirty="0"/>
          </a:p>
        </p:txBody>
      </p:sp>
      <p:sp>
        <p:nvSpPr>
          <p:cNvPr id="61" name="Text 56"/>
          <p:cNvSpPr/>
          <p:nvPr/>
        </p:nvSpPr>
        <p:spPr>
          <a:xfrm>
            <a:off x="6547104" y="364845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EDS001, INS001, PAY001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6400800" y="4069080"/>
            <a:ext cx="246888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Shape 58"/>
          <p:cNvSpPr/>
          <p:nvPr/>
        </p:nvSpPr>
        <p:spPr>
          <a:xfrm>
            <a:off x="6400800" y="4069080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4" name="Text 59"/>
          <p:cNvSpPr/>
          <p:nvPr/>
        </p:nvSpPr>
        <p:spPr>
          <a:xfrm>
            <a:off x="6547104" y="4123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65" name="Text 60"/>
          <p:cNvSpPr/>
          <p:nvPr/>
        </p:nvSpPr>
        <p:spPr>
          <a:xfrm>
            <a:off x="6547104" y="4379976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Data integrity enforced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9EF5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Real-World Impact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892040" cy="3913632"/>
          </a:xfrm>
          <a:prstGeom prst="rect">
            <a:avLst/>
          </a:prstGeom>
          <a:solidFill>
            <a:srgbClr val="EFF5FF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489204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058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Achievements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554480"/>
            <a:ext cx="45720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554480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72768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Full-stack web app replacing all manual paper processes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4572000" cy="420624"/>
          </a:xfrm>
          <a:prstGeom prst="rect">
            <a:avLst/>
          </a:prstGeom>
          <a:solidFill>
            <a:srgbClr val="D6E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2084832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03120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Three dedicated portals: Student, Instructor &amp; Admin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615184"/>
            <a:ext cx="45720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2615184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33472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Automated DMT tracking aligned with RMV Sri Lanka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145536"/>
            <a:ext cx="4572000" cy="420624"/>
          </a:xfrm>
          <a:prstGeom prst="rect">
            <a:avLst/>
          </a:prstGeom>
          <a:solidFill>
            <a:srgbClr val="D6E8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3145536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63824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Structured payment management with invoice system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3675888"/>
            <a:ext cx="45720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3675888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94176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Unique ID system (EDS, INS, PAY) for data organization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4206240"/>
            <a:ext cx="4572000" cy="420624"/>
          </a:xfrm>
          <a:prstGeom prst="rect">
            <a:avLst/>
          </a:prstGeom>
          <a:solidFill>
            <a:srgbClr val="D6E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4206240"/>
            <a:ext cx="54864" cy="420624"/>
          </a:xfrm>
          <a:prstGeom prst="rect">
            <a:avLst/>
          </a:prstGeom>
          <a:solidFill>
            <a:srgbClr val="1A5FA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224528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Scalable architecture built on modern tech stack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49240" y="960120"/>
            <a:ext cx="3547872" cy="1188720"/>
          </a:xfrm>
          <a:prstGeom prst="rect">
            <a:avLst/>
          </a:prstGeom>
          <a:solidFill>
            <a:srgbClr val="1A5FA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987552"/>
            <a:ext cx="1280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6748272" y="10515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 Roles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48272" y="14447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Student · Instructor · Admin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2267712"/>
            <a:ext cx="3547872" cy="1188720"/>
          </a:xfrm>
          <a:prstGeom prst="rect">
            <a:avLst/>
          </a:prstGeom>
          <a:solidFill>
            <a:srgbClr val="14366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2295144"/>
            <a:ext cx="1280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000" dirty="0"/>
          </a:p>
        </p:txBody>
      </p:sp>
      <p:sp>
        <p:nvSpPr>
          <p:cNvPr id="33" name="Text 31"/>
          <p:cNvSpPr/>
          <p:nvPr/>
        </p:nvSpPr>
        <p:spPr>
          <a:xfrm>
            <a:off x="6748272" y="2359152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DMT Steps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48272" y="275234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Full RMV process tracked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3575304"/>
            <a:ext cx="3547872" cy="11887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94960" y="3602736"/>
            <a:ext cx="1280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6748272" y="366674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Pass Rate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48272" y="405993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Kurunegala's top school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4366B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029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31520"/>
            <a:ext cx="2560320" cy="2560320"/>
          </a:xfrm>
          <a:prstGeom prst="ellipse">
            <a:avLst/>
          </a:prstGeom>
          <a:solidFill>
            <a:srgbClr val="1A5FAB"/>
          </a:solidFill>
          <a:ln/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960120"/>
            <a:ext cx="2103120" cy="2103120"/>
          </a:xfrm>
          <a:prstGeom prst="ellipse">
            <a:avLst/>
          </a:prstGeom>
          <a:solidFill>
            <a:srgbClr val="2D82D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474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4407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</a:rPr>
              <a:t>Eranga Driving School Management Platform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502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CONTACT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914400"/>
            <a:ext cx="2971800" cy="6400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95097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</a:rPr>
              <a:t>Student ID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11887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KUR/IT/2324/F/0083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06440" y="1719072"/>
            <a:ext cx="2971800" cy="640080"/>
          </a:xfrm>
          <a:prstGeom prst="rect">
            <a:avLst/>
          </a:prstGeom>
          <a:solidFill>
            <a:srgbClr val="122E5A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0" y="175564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</a:rPr>
              <a:t>Email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97880" y="199339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info@erangadriving.lk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06440" y="2523744"/>
            <a:ext cx="2971800" cy="6400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256032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</a:rPr>
              <a:t>Phone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279806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+94 77 123 4567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06440" y="3328416"/>
            <a:ext cx="2971800" cy="640080"/>
          </a:xfrm>
          <a:prstGeom prst="rect">
            <a:avLst/>
          </a:prstGeom>
          <a:solidFill>
            <a:srgbClr val="122E5A"/>
          </a:solidFill>
          <a:ln/>
        </p:spPr>
      </p:sp>
      <p:sp>
        <p:nvSpPr>
          <p:cNvPr id="22" name="Text 19"/>
          <p:cNvSpPr/>
          <p:nvPr/>
        </p:nvSpPr>
        <p:spPr>
          <a:xfrm>
            <a:off x="5897880" y="336499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</a:rPr>
              <a:t>Location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97880" y="36027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Kurunegala, Sri Lanka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4160520"/>
            <a:ext cx="347472" cy="34747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160520"/>
            <a:ext cx="347472" cy="34747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160520"/>
            <a:ext cx="347472" cy="347472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160520"/>
            <a:ext cx="347472" cy="347472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41605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806440" y="4572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98% First-Attempt Pass Rate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Eranga Driving School Management Platform</dc:title>
  <dc:subject>PptxGenJS Presentation</dc:subject>
  <dc:creator>KUR/IT/2324/F/0083</dc:creator>
  <cp:lastModifiedBy>KUR/IT/2324/F/0083</cp:lastModifiedBy>
  <cp:revision>1</cp:revision>
  <dcterms:created xsi:type="dcterms:W3CDTF">2026-05-26T18:06:59Z</dcterms:created>
  <dcterms:modified xsi:type="dcterms:W3CDTF">2026-05-26T18:06:59Z</dcterms:modified>
</cp:coreProperties>
</file>